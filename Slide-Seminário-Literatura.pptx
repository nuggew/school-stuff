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5" r:id="rId9"/>
    <p:sldId id="266" r:id="rId10"/>
    <p:sldId id="261" r:id="rId11"/>
    <p:sldId id="26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A881F-52A9-4C94-959B-91810BA2C8CA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FB86A-7CB8-4905-BC4E-EC10651695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07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F805A-9AA4-E7FF-87EF-73E3A9671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EF7EDC-775F-EB2D-CB71-BFD24D6FE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27E147-1B4B-3910-FE74-CBA2029A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31F1C-4701-09CD-B870-D86037B9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8AE03-79E3-108D-F333-D7019AE7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64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5BF10-467B-D7A9-C62B-25413951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9B587-C9CD-0D91-C2C1-0967DCF0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BBC29-E9A5-F3C8-1516-50F90D1D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07B06E-0A98-1CC9-C056-D4AA25E7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F1EA5A-F410-F70D-9603-55E39727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37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428B-4A8F-C597-A37C-4A8FA6E9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A70424-02A3-6FB8-1C4D-E2103903D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4332F-7620-892E-8D72-9B8F2C54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5BE13E-5C61-6838-89C1-58C167C8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E8B1B0-3B49-4595-2780-76E0FEFA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78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688B5-17F0-1C4C-BEA8-343292C0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71B05-7AD0-E9C9-83FC-93D2E2786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851E95-9BF3-834D-B749-1EF834E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EF8366-214E-9EC6-2D6F-C1B1E74C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80A6A-1300-D64A-AEDC-AEC9FBAD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76ED1E-B999-831E-09C9-4451AF95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45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610ED-8EF3-74D4-CEF9-3431484D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6B044A-B604-3344-D3A6-131E0E35A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F69D8C-0D57-3917-7F95-AC1005888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ACEC97-67CA-7D46-FD5B-826360968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7DDE01-CD14-092F-9C41-21579AFA4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6D9B76-F44E-6628-E3B7-C09B6DDF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305861-3601-4019-9B8D-45161C71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C22AAB-685E-4B16-A9E5-387EB3F8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39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DCBAE-8562-8A51-8836-326743D5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B5A6D3-4881-C631-6447-45E013A3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598271-B240-5B2E-7B8C-A0948498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A65E23-8C24-76F9-6D1D-50D6263C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54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A8D60F-7376-9F70-5E4F-BA2EFEB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B1F515-7ABA-E9A5-D723-7F6D3043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B33A2A-0CDC-7057-03EF-50AB1FC6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35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242CC-2E70-E7A2-C2B5-383AA262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CE6200-E244-6169-12FB-72C78949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943C02-350F-DB91-29BF-1CF0048C5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8D3035-4E30-0F14-2B5C-148776FD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8EE0EC-4C7E-51FC-3A71-12D629C5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EDAFDC-9000-A84D-DB47-CC89815A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79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99FA9-859D-0DD9-2D88-9AC9C81B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7CB216-2FA3-CE77-6C36-9A0DBBB12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71D43B-2ABC-1B99-BDD2-FEE4927C8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38E61B-63FF-32CC-2D13-2518B2B5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AAFE5A-A9A9-0EEC-0912-2F413A24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43536-B22C-CAEF-EB01-73AE14E6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12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F6491-3317-DB49-0FF6-9B17633A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6D6D4C-8982-045B-1B44-087049F01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06B960-C370-AAFC-541F-1D4496DE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E0BAC2-42B4-1766-E95E-E3D7FAD1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5322AA-C4C5-D63A-5BC0-93295A59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44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89FE67-62BA-D261-6C5C-8C94B284E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584BFB-4548-AD8C-337F-B4A1F0CFE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A9CDE-ABB8-9CDE-824E-D246E9E5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6663C9-22B6-A7F5-98B1-51DB82CD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4B2B4-745A-46D1-2633-6892F892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99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7BBA74-C8A0-DA4E-2954-BD654C4C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1EB745-6935-DFFF-A242-D3265B1B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A56383-7A23-EC49-DB1B-094DD6B4E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7FDCD-3321-4F9C-A35B-F020DDDC4B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0953B7-4726-72E8-8CF3-306B9D990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0F4F03-25A8-B49E-F6CF-4DE0FF9DD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53F7F-D8DD-4791-A28C-FA7EA9BA9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03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image" Target="../media/image1.org&amp;utm_campaign=parser&amp;utm_content=thumbnai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775086-66C0-D7D4-DF9A-1DA00945C6BF}"/>
              </a:ext>
            </a:extLst>
          </p:cNvPr>
          <p:cNvSpPr txBox="1"/>
          <p:nvPr/>
        </p:nvSpPr>
        <p:spPr>
          <a:xfrm>
            <a:off x="3211068" y="2844225"/>
            <a:ext cx="576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Estrutura de Os Lusíadas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2D223A3-72AF-9DFF-E892-5E1B8B466BDF}"/>
              </a:ext>
            </a:extLst>
          </p:cNvPr>
          <p:cNvSpPr txBox="1"/>
          <p:nvPr/>
        </p:nvSpPr>
        <p:spPr>
          <a:xfrm>
            <a:off x="4309491" y="3244334"/>
            <a:ext cx="35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Grupo 3 – Turma 1101 e 1103B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1178A74-E3D6-F71B-B69F-DEE9E05684D0}"/>
              </a:ext>
            </a:extLst>
          </p:cNvPr>
          <p:cNvSpPr txBox="1"/>
          <p:nvPr/>
        </p:nvSpPr>
        <p:spPr>
          <a:xfrm>
            <a:off x="2768346" y="3505944"/>
            <a:ext cx="6655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50000"/>
                  </a:schemeClr>
                </a:solidFill>
              </a:rPr>
              <a:t>Guilherme Araujo, Eduardo, Lucca, Lorenzo, Eros, Ana, </a:t>
            </a:r>
            <a:r>
              <a:rPr lang="pt-BR" sz="800" dirty="0" err="1">
                <a:solidFill>
                  <a:schemeClr val="bg1">
                    <a:lumMod val="50000"/>
                  </a:schemeClr>
                </a:solidFill>
              </a:rPr>
              <a:t>Asafe</a:t>
            </a:r>
            <a:r>
              <a:rPr lang="pt-BR" sz="800" dirty="0">
                <a:solidFill>
                  <a:schemeClr val="bg1">
                    <a:lumMod val="50000"/>
                  </a:schemeClr>
                </a:solidFill>
              </a:rPr>
              <a:t>, Matheus, Jonatas e Giovana Elidia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AB6CFF4-D028-CF36-0852-CDC295BEB245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014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4F48-11DA-28E3-C9DE-07875880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4210D1E-F18B-F397-ACF7-B91180E9B3F9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87C14E8-0D71-5A46-B1A6-3F7A8B64206F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1EAE4E-6AE5-16EB-38F2-E080F720BB00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02B574-E3FC-A5CC-9945-7CA1887C21F6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9039734-BF84-A981-CFCB-6F4E52705E38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BF90501-1312-D518-5ADE-B9935F4169EC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FDB8679-5931-C09C-6A7F-149D5FFEACDD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369ED0-C481-7FEB-38E9-41312A1DA8D2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9115A1A-C5DF-0F33-2A55-D335A9C10441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12AD15-692D-E076-4073-680A9148657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Introdução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835856-6C46-EAC4-BB02-1E815F01BC7D}"/>
              </a:ext>
            </a:extLst>
          </p:cNvPr>
          <p:cNvSpPr txBox="1"/>
          <p:nvPr/>
        </p:nvSpPr>
        <p:spPr>
          <a:xfrm>
            <a:off x="443484" y="1690062"/>
            <a:ext cx="611733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4000" b="1" dirty="0"/>
              <a:t>OS LUSÍADAS</a:t>
            </a:r>
          </a:p>
          <a:p>
            <a:pPr>
              <a:buNone/>
            </a:pPr>
            <a:r>
              <a:rPr lang="pt-BR" sz="2000" b="1" dirty="0"/>
              <a:t>Luís de Camões</a:t>
            </a:r>
          </a:p>
          <a:p>
            <a:pPr>
              <a:buNone/>
            </a:pPr>
            <a:endParaRPr lang="pt-BR" b="1" dirty="0"/>
          </a:p>
          <a:p>
            <a:r>
              <a:rPr lang="pt-BR" dirty="0"/>
              <a:t>Uma das principais obras da literatura portuguesa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Publicada em 1572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Uma das principais obras da literatura portuguesa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Poema épico que celebra a história e as conquistas dos portugueses</a:t>
            </a:r>
            <a:br>
              <a:rPr lang="pt-BR" dirty="0"/>
            </a:b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C294CA0-D79B-C79E-86E7-DECA18A0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4916" y="1905636"/>
            <a:ext cx="2225040" cy="3228976"/>
          </a:xfrm>
          <a:prstGeom prst="rect">
            <a:avLst/>
          </a:prstGeom>
        </p:spPr>
      </p:pic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A2827460-770F-691A-BC78-2877A005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2</a:t>
            </a:fld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9" name="Imagem 18" descr="Luís de Camões – Wikipédia, a enciclopédia livre">
            <a:extLst>
              <a:ext uri="{FF2B5EF4-FFF2-40B4-BE49-F238E27FC236}">
                <a16:creationId xmlns:a16="http://schemas.microsoft.com/office/drawing/2014/main" id="{32ABF900-4F15-6556-B225-50B9306E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258" y="1905637"/>
            <a:ext cx="23812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928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F030-12E6-BCF6-FBF5-5AC2B9DB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8BDB0B3-F361-2F34-4209-14CD62498416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2E9BA3-BBBA-B7B4-AD72-CE678F83FD6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4DA71A-EFF7-66E0-EDD6-5F4DDAF0747B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AF75363-DA2C-D948-4FEB-C787D877058E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8B8B17-9DED-C146-C51E-4E581A3375CF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18271C-6E48-2E6E-6BA1-0B48FA55B257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B3EEA34-5057-71C9-5062-16ED8A9AAF59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B933ED2-EF8E-065E-755D-F7F69ED8D659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12D700-A4BB-34B8-CA48-B96017894D4B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4116FEB-037A-0CA0-B935-7B8FD50902F5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AAE597-C869-7E50-9440-1E02C13FA715}"/>
              </a:ext>
            </a:extLst>
          </p:cNvPr>
          <p:cNvSpPr txBox="1"/>
          <p:nvPr/>
        </p:nvSpPr>
        <p:spPr>
          <a:xfrm>
            <a:off x="233172" y="1813173"/>
            <a:ext cx="1172565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Como a obra é organizada?</a:t>
            </a:r>
          </a:p>
          <a:p>
            <a:r>
              <a:rPr lang="pt-BR" i="1" dirty="0"/>
              <a:t>Os Lusíadas</a:t>
            </a:r>
            <a:r>
              <a:rPr lang="pt-BR" dirty="0"/>
              <a:t> é um </a:t>
            </a:r>
            <a:r>
              <a:rPr lang="pt-BR" u="sng" dirty="0"/>
              <a:t>poema épico</a:t>
            </a:r>
            <a:r>
              <a:rPr lang="pt-BR" dirty="0"/>
              <a:t>, dividido 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10 cantos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1.102 estrofes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8.816 versos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Versos decassílabos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Estrofes formadas por oitavas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Rimas organizadas no esquema </a:t>
            </a:r>
            <a:r>
              <a:rPr lang="pt-BR" u="sng" dirty="0"/>
              <a:t>ABABABCC </a:t>
            </a:r>
          </a:p>
          <a:p>
            <a:endParaRPr lang="pt-BR" dirty="0"/>
          </a:p>
          <a:p>
            <a:r>
              <a:rPr lang="pt-BR" dirty="0"/>
              <a:t>A obra narra principalmente a </a:t>
            </a:r>
            <a:r>
              <a:rPr lang="pt-BR" b="1" dirty="0"/>
              <a:t>viagem de Vasco da Gama até a Índia</a:t>
            </a:r>
            <a:r>
              <a:rPr lang="pt-BR" dirty="0"/>
              <a:t>, enquanto apresenta episódios da história de Portugal.</a:t>
            </a:r>
          </a:p>
        </p:txBody>
      </p:sp>
      <p:sp>
        <p:nvSpPr>
          <p:cNvPr id="24" name="Espaço Reservado para Número de Slide 14">
            <a:extLst>
              <a:ext uri="{FF2B5EF4-FFF2-40B4-BE49-F238E27FC236}">
                <a16:creationId xmlns:a16="http://schemas.microsoft.com/office/drawing/2014/main" id="{28EF1F4D-4755-1D76-CD46-41168F47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3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285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23C6-8B98-6D7F-454D-5025C4DE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494FB20-3B65-7CFF-1B82-2922FC775C3D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2F98A9-2522-2F0A-7862-8D86836F1C4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98F0C8-9AEA-DF9C-DC25-2F312F8A5D97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15586B-C0FF-257A-57C5-F039679F6BC3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FD2F48-88B2-0296-4B17-9390DA1C2EA7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55E4C6-02BA-EC22-8FA2-DFE777CF8E3E}"/>
              </a:ext>
            </a:extLst>
          </p:cNvPr>
          <p:cNvSpPr txBox="1"/>
          <p:nvPr/>
        </p:nvSpPr>
        <p:spPr>
          <a:xfrm>
            <a:off x="0" y="52530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263FF5A-0DE6-521E-5EA8-26526895E6FB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6E7136-E79B-67D3-CB37-9AB2A823EB98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996900-AFD5-E006-46F6-353B55386CEE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29A7125F-71C3-6D95-F677-E1850DB8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4</a:t>
            </a:fld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82F1D98F-7946-55AD-7F10-74272CA72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618254"/>
              </p:ext>
            </p:extLst>
          </p:nvPr>
        </p:nvGraphicFramePr>
        <p:xfrm>
          <a:off x="367792" y="873598"/>
          <a:ext cx="8128000" cy="569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96649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5065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Principal conteúdo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91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Proposição, invocação e dedicatória; início da viagem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89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Chegada a Mombaça e intervenção de Vênus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479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História de Portugal contada por Vasco da Gama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53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Continuação da história portuguesa e partida para a Índia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04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Relato da viagem e perigos enfrentados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809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Tempestade e chegada à Índia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06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Chegada a </a:t>
                      </a:r>
                      <a:r>
                        <a:rPr lang="pt-BR" dirty="0" err="1"/>
                        <a:t>Calecute</a:t>
                      </a:r>
                      <a:r>
                        <a:rPr lang="pt-BR" dirty="0"/>
                        <a:t> e contato com os indianos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7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VIII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Conflitos e dificuldades em </a:t>
                      </a:r>
                      <a:r>
                        <a:rPr lang="pt-BR" dirty="0" err="1"/>
                        <a:t>Calecute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0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Regresso e Ilha dos Amores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5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Ilha dos Amores, profecias e encerramento da viagem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111207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1A0EA79F-7D63-A42D-CB8E-A9131DA1B0EA}"/>
              </a:ext>
            </a:extLst>
          </p:cNvPr>
          <p:cNvSpPr txBox="1"/>
          <p:nvPr/>
        </p:nvSpPr>
        <p:spPr>
          <a:xfrm>
            <a:off x="8739124" y="793324"/>
            <a:ext cx="3209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IMPORTANTE:</a:t>
            </a:r>
            <a:r>
              <a:rPr lang="pt-BR" dirty="0"/>
              <a:t> os cantos não apresentam apenas a viagem. A narrativa mistura acontecimentos históricos, mitologia, discursos e episódios fantásticos.</a:t>
            </a:r>
          </a:p>
        </p:txBody>
      </p:sp>
    </p:spTree>
    <p:extLst>
      <p:ext uri="{BB962C8B-B14F-4D97-AF65-F5344CB8AC3E}">
        <p14:creationId xmlns:p14="http://schemas.microsoft.com/office/powerpoint/2010/main" val="2198090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50CA-7372-87A8-880C-6CFEFB7B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12291AB-D9D9-C4D3-EAE9-D94CC78DED93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C82F52F-5185-CC3E-5448-457377092529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48C537-B9FE-8A01-B456-334CF55850D1}"/>
              </a:ext>
            </a:extLst>
          </p:cNvPr>
          <p:cNvSpPr txBox="1"/>
          <p:nvPr/>
        </p:nvSpPr>
        <p:spPr>
          <a:xfrm>
            <a:off x="0" y="12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5B50B9-38BF-AFFA-4083-92B18D65C497}"/>
              </a:ext>
            </a:extLst>
          </p:cNvPr>
          <p:cNvSpPr txBox="1"/>
          <p:nvPr/>
        </p:nvSpPr>
        <p:spPr>
          <a:xfrm>
            <a:off x="0" y="52598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5CC99C6-E9DE-BE5C-463C-5F100FF991C7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00A1CF-444C-D8A6-98B2-C3D2D9349787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D240F9-7D99-4217-E9CF-4164456A5308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8CFB3D6-6166-4088-A876-6D14B7B4C8A5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73D2A3-8013-0A90-E4C9-0EADA44E81B6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7D89C5A9-48DC-7BBA-5C8C-048FA535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5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B4EC53-45A1-0D13-8D76-1E2BD76CFDDE}"/>
              </a:ext>
            </a:extLst>
          </p:cNvPr>
          <p:cNvSpPr txBox="1"/>
          <p:nvPr/>
        </p:nvSpPr>
        <p:spPr>
          <a:xfrm>
            <a:off x="4437126" y="2505670"/>
            <a:ext cx="331774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Estrutura Métrica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8.816 versos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1.102 estrofes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estrofe possui 8 versos</a:t>
            </a:r>
          </a:p>
          <a:p>
            <a:endParaRPr lang="pt-BR" dirty="0"/>
          </a:p>
          <a:p>
            <a:r>
              <a:rPr lang="pt-BR" b="1" dirty="0"/>
              <a:t>Oitava-rima: </a:t>
            </a:r>
            <a:r>
              <a:rPr lang="pt-BR" dirty="0"/>
              <a:t>ABABABCC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8FBD48-D304-BA6B-CE69-AC343427BE7E}"/>
              </a:ext>
            </a:extLst>
          </p:cNvPr>
          <p:cNvSpPr txBox="1"/>
          <p:nvPr/>
        </p:nvSpPr>
        <p:spPr>
          <a:xfrm>
            <a:off x="2411730" y="4588440"/>
            <a:ext cx="7368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400" dirty="0"/>
              <a:t>Os versos são predominantemente </a:t>
            </a:r>
            <a:r>
              <a:rPr lang="pt-BR" sz="1400" b="1" dirty="0"/>
              <a:t>decassílabos</a:t>
            </a:r>
            <a:r>
              <a:rPr lang="pt-BR" sz="1400" dirty="0"/>
              <a:t>, ou seja, possuem </a:t>
            </a:r>
            <a:r>
              <a:rPr lang="pt-BR" sz="1400" b="1" dirty="0"/>
              <a:t>dez sílabas métricas</a:t>
            </a:r>
            <a:r>
              <a:rPr lang="pt-BR" sz="1400" dirty="0"/>
              <a:t>.</a:t>
            </a:r>
          </a:p>
          <a:p>
            <a:pPr algn="ctr">
              <a:buNone/>
            </a:pPr>
            <a:r>
              <a:rPr lang="pt-BR" sz="1400" dirty="0"/>
              <a:t>Essa estrutura dá ao poema um ritmo solene, adequado à narrativa épica.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8409EEF8-ABFB-C28A-E1BA-C8F519DC6DA2}"/>
              </a:ext>
            </a:extLst>
          </p:cNvPr>
          <p:cNvCxnSpPr/>
          <p:nvPr/>
        </p:nvCxnSpPr>
        <p:spPr>
          <a:xfrm>
            <a:off x="733806" y="4542104"/>
            <a:ext cx="10724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6610A7B-371F-D97F-A150-BD522BE68D29}"/>
              </a:ext>
            </a:extLst>
          </p:cNvPr>
          <p:cNvCxnSpPr/>
          <p:nvPr/>
        </p:nvCxnSpPr>
        <p:spPr>
          <a:xfrm>
            <a:off x="733806" y="5157996"/>
            <a:ext cx="10724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370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F70A-E999-09C8-0398-B7668973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CC5BEEA-7C18-10D5-BA38-DC807FFFF3C8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257E61E-1404-D34F-8E21-C79FFB603F7E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BD0879-1C7A-0010-6CAA-34A03D7BF9AA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A8A7432-7BEF-541D-C2AA-558D67179B7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E129FB5-4BB1-8604-D717-02DB3800D2E0}"/>
              </a:ext>
            </a:extLst>
          </p:cNvPr>
          <p:cNvSpPr txBox="1"/>
          <p:nvPr/>
        </p:nvSpPr>
        <p:spPr>
          <a:xfrm>
            <a:off x="0" y="52530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547293-6B58-FD1F-AE21-58F19D5FE0AC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5894BFB-65A7-BA70-34B2-AE37662126BB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BA53EFA-1C50-CB1E-C37C-C83B9B2D99B0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BCDDE0C-7318-6976-6EA2-CE1B58B17BEE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C9776685-714F-9E71-4717-82C31B97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6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D95979-CB39-34BF-97EA-3AA29BB06F6A}"/>
              </a:ext>
            </a:extLst>
          </p:cNvPr>
          <p:cNvSpPr txBox="1"/>
          <p:nvPr/>
        </p:nvSpPr>
        <p:spPr>
          <a:xfrm>
            <a:off x="960501" y="1536174"/>
            <a:ext cx="102709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Quem narra </a:t>
            </a:r>
            <a:r>
              <a:rPr lang="pt-BR" sz="2400" b="1" i="1" dirty="0"/>
              <a:t>Os Lusíadas</a:t>
            </a:r>
            <a:r>
              <a:rPr lang="pt-BR" sz="2400" b="1" dirty="0"/>
              <a:t>?</a:t>
            </a:r>
          </a:p>
          <a:p>
            <a:pPr>
              <a:buNone/>
            </a:pPr>
            <a:r>
              <a:rPr lang="pt-BR" dirty="0"/>
              <a:t>O narrador é predominantemente: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Narrador em 3ª pessoa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Conta acontecimentos da viagem de Vasco da Gama.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Conhece e apresenta diferentes acontecimentos.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Interrompe a narrativa para fazer reflexões e comentários. </a:t>
            </a:r>
          </a:p>
          <a:p>
            <a:pPr lvl="0"/>
            <a:endParaRPr lang="pt-BR" dirty="0"/>
          </a:p>
          <a:p>
            <a:pPr>
              <a:buNone/>
            </a:pPr>
            <a:r>
              <a:rPr lang="pt-BR" dirty="0"/>
              <a:t>Porém, existem momentos em que </a:t>
            </a:r>
            <a:r>
              <a:rPr lang="pt-BR" b="1" dirty="0"/>
              <a:t>personagens assumem a narração</a:t>
            </a:r>
            <a:r>
              <a:rPr lang="pt-BR" dirty="0"/>
              <a:t>, como Vasco da Gama, que conta episódios da história de Portugal.</a:t>
            </a:r>
          </a:p>
          <a:p>
            <a:pPr>
              <a:buNone/>
            </a:pPr>
            <a:endParaRPr lang="pt-BR" dirty="0"/>
          </a:p>
          <a:p>
            <a:pPr algn="ctr">
              <a:buNone/>
            </a:pPr>
            <a:r>
              <a:rPr lang="pt-BR" dirty="0"/>
              <a:t>Portanto, a narrativa possui uma </a:t>
            </a:r>
            <a:r>
              <a:rPr lang="pt-BR" b="1" dirty="0"/>
              <a:t>voz épica que conduz a história</a:t>
            </a:r>
            <a:r>
              <a:rPr lang="pt-BR" dirty="0"/>
              <a:t>, mas também utiliza relatos dentro da própria narrativa.</a:t>
            </a:r>
          </a:p>
        </p:txBody>
      </p:sp>
    </p:spTree>
    <p:extLst>
      <p:ext uri="{BB962C8B-B14F-4D97-AF65-F5344CB8AC3E}">
        <p14:creationId xmlns:p14="http://schemas.microsoft.com/office/powerpoint/2010/main" val="1052598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4DA7-5F30-8974-EBBC-B5DE893A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C51C685-9714-B8F2-F411-23E97D38ECE3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EFF92F-2E8A-50AF-70BA-79E35FC71B26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760F9D-68D0-7CFD-B370-1548568DA673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0CA5C6-5F26-0242-174A-AEEFA9FDACE7}"/>
              </a:ext>
            </a:extLst>
          </p:cNvPr>
          <p:cNvSpPr txBox="1"/>
          <p:nvPr/>
        </p:nvSpPr>
        <p:spPr>
          <a:xfrm>
            <a:off x="0" y="51897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812919C-DE9B-3BC1-6556-DC6887FDBBA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A05DAFB-6BB4-2802-8A87-CC35861AF88F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EF3E267-B686-F165-CC7A-94D3527DEA7F}"/>
              </a:ext>
            </a:extLst>
          </p:cNvPr>
          <p:cNvSpPr txBox="1"/>
          <p:nvPr/>
        </p:nvSpPr>
        <p:spPr>
          <a:xfrm>
            <a:off x="0" y="53334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F0013D1-9D72-DF14-DE71-FEEDAEBDA945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2B96EC-60DE-4AA0-50DA-454D3EF25A93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D5AAB5E0-7C61-5AB1-7D14-5225D412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7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A86D7C-D127-C4D0-3592-411C2B5175D3}"/>
              </a:ext>
            </a:extLst>
          </p:cNvPr>
          <p:cNvSpPr txBox="1"/>
          <p:nvPr/>
        </p:nvSpPr>
        <p:spPr>
          <a:xfrm>
            <a:off x="3243834" y="1520785"/>
            <a:ext cx="570433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/>
              <a:t>Proposição</a:t>
            </a:r>
          </a:p>
          <a:p>
            <a:pPr>
              <a:buNone/>
            </a:pPr>
            <a:endParaRPr lang="pt-BR" sz="2400" b="1" dirty="0"/>
          </a:p>
          <a:p>
            <a:pPr>
              <a:buNone/>
            </a:pPr>
            <a:r>
              <a:rPr lang="pt-BR" sz="2400" b="1" dirty="0"/>
              <a:t>O que será contado?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u="sng" dirty="0"/>
              <a:t>proposição</a:t>
            </a:r>
            <a:r>
              <a:rPr lang="pt-BR" dirty="0"/>
              <a:t> apresenta o assunto principal da epopeia.</a:t>
            </a:r>
          </a:p>
          <a:p>
            <a:pPr>
              <a:buNone/>
            </a:pPr>
            <a:r>
              <a:rPr lang="pt-BR" dirty="0"/>
              <a:t>Camões anuncia que irá cantar: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Os feitos dos portugueses;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As viagens e conquistas;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 viagem de Vasco da Gama;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/>
              <a:t>A expansão portuguesa pelo mundo.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Aparece logo no início do </a:t>
            </a:r>
            <a:r>
              <a:rPr lang="pt-BR" b="1" dirty="0"/>
              <a:t>Canto I</a:t>
            </a:r>
            <a:r>
              <a:rPr lang="pt-BR" dirty="0"/>
              <a:t>.</a:t>
            </a:r>
          </a:p>
          <a:p>
            <a:pPr>
              <a:buNone/>
            </a:pPr>
            <a:r>
              <a:rPr lang="pt-BR" b="1" dirty="0"/>
              <a:t>“As armas e os barões assinalados...”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674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A248-3724-6EDA-97CA-69A83DFF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5859DB1-365A-1C69-4159-EBC4E657AEC6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1ECC9-B002-0D0D-2A65-25E795B11134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AB0930-448A-B766-7026-8E0716E88CB8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54E211F-C7C7-A406-6881-FF84F6FC45D1}"/>
              </a:ext>
            </a:extLst>
          </p:cNvPr>
          <p:cNvSpPr txBox="1"/>
          <p:nvPr/>
        </p:nvSpPr>
        <p:spPr>
          <a:xfrm>
            <a:off x="0" y="51897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4FB867-EF72-8882-6F5D-4C6AC15F25C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6F188E2-F188-ACDA-8B1C-D5E8F50B27D3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D2756AC-976A-D55B-F136-ED0BCCDCA1D9}"/>
              </a:ext>
            </a:extLst>
          </p:cNvPr>
          <p:cNvSpPr txBox="1"/>
          <p:nvPr/>
        </p:nvSpPr>
        <p:spPr>
          <a:xfrm>
            <a:off x="0" y="53334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A3D09E-1478-CDB3-19A4-A18DDF1ABDC6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05177D-5298-6D5E-0087-1A492927FF9B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6388F2B2-E88A-8EC1-E5D8-4DFE9CED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8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D82594-D5B0-465F-DAAB-3424EE85881B}"/>
              </a:ext>
            </a:extLst>
          </p:cNvPr>
          <p:cNvSpPr txBox="1"/>
          <p:nvPr/>
        </p:nvSpPr>
        <p:spPr>
          <a:xfrm>
            <a:off x="3243834" y="1105287"/>
            <a:ext cx="570433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/>
              <a:t>Invocação</a:t>
            </a:r>
          </a:p>
          <a:p>
            <a:pPr>
              <a:buNone/>
            </a:pPr>
            <a:endParaRPr lang="pt-BR" sz="2400" b="1" dirty="0"/>
          </a:p>
          <a:p>
            <a:r>
              <a:rPr lang="pt-BR" sz="2400" b="1" dirty="0"/>
              <a:t>A quem o poeta pede inspiração?</a:t>
            </a:r>
          </a:p>
          <a:p>
            <a:r>
              <a:rPr lang="pt-BR" dirty="0"/>
              <a:t>Na invocação, o poeta pede inspiração para conseguir realizar sua obra.</a:t>
            </a:r>
          </a:p>
          <a:p>
            <a:r>
              <a:rPr lang="pt-BR" dirty="0"/>
              <a:t>Camões invoca as:</a:t>
            </a:r>
          </a:p>
          <a:p>
            <a:endParaRPr lang="pt-BR" dirty="0"/>
          </a:p>
          <a:p>
            <a:r>
              <a:rPr lang="pt-BR" b="1" dirty="0"/>
              <a:t>Tágides</a:t>
            </a:r>
          </a:p>
          <a:p>
            <a:r>
              <a:rPr lang="pt-BR" dirty="0"/>
              <a:t>Ninfas do rio Tejo.</a:t>
            </a:r>
          </a:p>
          <a:p>
            <a:endParaRPr lang="pt-BR" dirty="0"/>
          </a:p>
          <a:p>
            <a:r>
              <a:rPr lang="pt-BR" dirty="0"/>
              <a:t>Ele pede que elas lhe deem inspiração e capacidade para cantar os feitos dos portugueses.</a:t>
            </a:r>
          </a:p>
          <a:p>
            <a:endParaRPr lang="pt-BR" dirty="0"/>
          </a:p>
          <a:p>
            <a:pPr algn="ctr"/>
            <a:r>
              <a:rPr lang="pt-BR" dirty="0"/>
              <a:t>A invocação é uma característica tradicional das epopeias clássicas.</a:t>
            </a:r>
          </a:p>
        </p:txBody>
      </p:sp>
    </p:spTree>
    <p:extLst>
      <p:ext uri="{BB962C8B-B14F-4D97-AF65-F5344CB8AC3E}">
        <p14:creationId xmlns:p14="http://schemas.microsoft.com/office/powerpoint/2010/main" val="3994715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BC164-114B-F2FA-EDD5-15191BF2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35AFEA9-9EDE-B9E9-5170-EE4269462389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42D3FD-805F-863A-745C-6B267AC6320B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FABDEA-61F1-B317-7ED4-B8AE37C55A90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118FB7-854D-40B4-A7AD-7D9432D39812}"/>
              </a:ext>
            </a:extLst>
          </p:cNvPr>
          <p:cNvSpPr txBox="1"/>
          <p:nvPr/>
        </p:nvSpPr>
        <p:spPr>
          <a:xfrm>
            <a:off x="0" y="51897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4AA986D-0753-ABB1-0056-EA321C124C3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B9C3B9-953C-81BC-86D8-A6FF0A0F7DF5}"/>
              </a:ext>
            </a:extLst>
          </p:cNvPr>
          <p:cNvSpPr txBox="1"/>
          <p:nvPr/>
        </p:nvSpPr>
        <p:spPr>
          <a:xfrm>
            <a:off x="0" y="5349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05F44C-4A55-8B15-9657-38B6C7696898}"/>
              </a:ext>
            </a:extLst>
          </p:cNvPr>
          <p:cNvSpPr txBox="1"/>
          <p:nvPr/>
        </p:nvSpPr>
        <p:spPr>
          <a:xfrm>
            <a:off x="0" y="53334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6B50886-0B5C-CC67-6927-0C1A4A67F36A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42EA86-7E12-88A5-6CD4-358AF91596BD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6F2E280A-5636-AB56-6CD0-A3F6605A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9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AB8AC7-7D99-5822-33EA-0AE98552CB73}"/>
              </a:ext>
            </a:extLst>
          </p:cNvPr>
          <p:cNvSpPr txBox="1"/>
          <p:nvPr/>
        </p:nvSpPr>
        <p:spPr>
          <a:xfrm>
            <a:off x="3243834" y="1108792"/>
            <a:ext cx="570433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/>
              <a:t>Dedicatória</a:t>
            </a:r>
          </a:p>
          <a:p>
            <a:pPr>
              <a:buNone/>
            </a:pPr>
            <a:endParaRPr lang="pt-BR" sz="2400" b="1" dirty="0"/>
          </a:p>
          <a:p>
            <a:r>
              <a:rPr lang="pt-BR" sz="2400" b="1" dirty="0"/>
              <a:t>Para quem a obra é dedicada?</a:t>
            </a:r>
          </a:p>
          <a:p>
            <a:r>
              <a:rPr lang="pt-BR" dirty="0"/>
              <a:t>Camões dedica </a:t>
            </a:r>
            <a:r>
              <a:rPr lang="pt-BR" i="1" dirty="0"/>
              <a:t>Os Lusíadas</a:t>
            </a:r>
            <a:r>
              <a:rPr lang="pt-BR" dirty="0"/>
              <a:t> ao:</a:t>
            </a:r>
          </a:p>
          <a:p>
            <a:endParaRPr lang="pt-BR" dirty="0"/>
          </a:p>
          <a:p>
            <a:r>
              <a:rPr lang="pt-BR" b="1" u="sng" dirty="0"/>
              <a:t>Rei D. Sebastião</a:t>
            </a:r>
          </a:p>
          <a:p>
            <a:r>
              <a:rPr lang="pt-BR" dirty="0"/>
              <a:t>O poeta apresenta o rei como alguém que poderá continuar os grandes feitos de Portugal.</a:t>
            </a:r>
          </a:p>
          <a:p>
            <a:endParaRPr lang="pt-BR" dirty="0"/>
          </a:p>
          <a:p>
            <a:r>
              <a:rPr lang="pt-BR" dirty="0"/>
              <a:t>A dedicatória:</a:t>
            </a:r>
          </a:p>
          <a:p>
            <a:pPr lvl="0"/>
            <a:r>
              <a:rPr lang="pt-BR" dirty="0"/>
              <a:t>Exalta o rei; </a:t>
            </a:r>
          </a:p>
          <a:p>
            <a:pPr lvl="0"/>
            <a:r>
              <a:rPr lang="pt-BR" dirty="0"/>
              <a:t>Demonstra lealdade à monarquia; </a:t>
            </a:r>
          </a:p>
          <a:p>
            <a:pPr lvl="0"/>
            <a:r>
              <a:rPr lang="pt-BR" dirty="0"/>
              <a:t>Relaciona o futuro de Portugal com D. Sebastião. </a:t>
            </a:r>
          </a:p>
          <a:p>
            <a:pPr lvl="0"/>
            <a:endParaRPr lang="pt-BR" dirty="0"/>
          </a:p>
          <a:p>
            <a:pPr algn="ctr"/>
            <a:r>
              <a:rPr lang="pt-BR" dirty="0"/>
              <a:t>A dedicatória aparece também no </a:t>
            </a:r>
            <a:r>
              <a:rPr lang="pt-BR" b="1" dirty="0"/>
              <a:t>Canto I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247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5AD5-D95B-1C8F-1279-BB4F3B94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9216950-577B-3343-0237-E33E207270C4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5D22CCC-9F09-7595-5887-D1BB360E3660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BF88D0-FE0F-86D7-4560-D02BFEBEAAF4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1333DD5-0452-487D-4655-F798879C441E}"/>
              </a:ext>
            </a:extLst>
          </p:cNvPr>
          <p:cNvSpPr txBox="1"/>
          <p:nvPr/>
        </p:nvSpPr>
        <p:spPr>
          <a:xfrm>
            <a:off x="0" y="51897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D8E0387-EC65-75A0-101D-DF662BC58A2D}"/>
              </a:ext>
            </a:extLst>
          </p:cNvPr>
          <p:cNvSpPr txBox="1"/>
          <p:nvPr/>
        </p:nvSpPr>
        <p:spPr>
          <a:xfrm>
            <a:off x="0" y="5301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AFFD722-C92E-A7F1-5F8A-55128C92AEF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55A219-A690-AF97-4C23-2C793F96C9E0}"/>
              </a:ext>
            </a:extLst>
          </p:cNvPr>
          <p:cNvSpPr txBox="1"/>
          <p:nvPr/>
        </p:nvSpPr>
        <p:spPr>
          <a:xfrm>
            <a:off x="0" y="5173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90D49F9-05C0-80DB-BFDA-ED32BE565ECB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3AE78B-78AB-E5F5-B506-7521CA05329A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09B19339-AF7E-03FC-8442-8EA91B0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10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9698F7-E350-9710-8632-A8AA3312F7BF}"/>
              </a:ext>
            </a:extLst>
          </p:cNvPr>
          <p:cNvSpPr txBox="1"/>
          <p:nvPr/>
        </p:nvSpPr>
        <p:spPr>
          <a:xfrm>
            <a:off x="2888742" y="1674673"/>
            <a:ext cx="641451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Características épicas</a:t>
            </a:r>
          </a:p>
          <a:p>
            <a:pPr>
              <a:buNone/>
            </a:pPr>
            <a:r>
              <a:rPr lang="pt-BR" i="1" dirty="0"/>
              <a:t>Os Lusíadas</a:t>
            </a:r>
            <a:r>
              <a:rPr lang="pt-BR" dirty="0"/>
              <a:t> apresenta características típicas das epopeias:</a:t>
            </a:r>
          </a:p>
          <a:p>
            <a:pPr>
              <a:buNone/>
            </a:pPr>
            <a:endParaRPr lang="pt-B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Herói coletivo:</a:t>
            </a:r>
            <a:r>
              <a:rPr lang="pt-BR" dirty="0"/>
              <a:t> o povo português;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Herói individual:</a:t>
            </a:r>
            <a:r>
              <a:rPr lang="pt-BR" dirty="0"/>
              <a:t> Vasco da Gama;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Tema grandioso:</a:t>
            </a:r>
            <a:r>
              <a:rPr lang="pt-BR" dirty="0"/>
              <a:t> viagens, conquistas e história de Portugal;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Presença de deuses e seres mitológicos;</a:t>
            </a:r>
            <a:r>
              <a:rPr lang="pt-BR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Intervenção divina</a:t>
            </a:r>
            <a:r>
              <a:rPr lang="pt-BR" dirty="0"/>
              <a:t> nos acontecimentos;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Narrativa de feitos heroicos;</a:t>
            </a:r>
            <a:r>
              <a:rPr lang="pt-BR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Linguagem solene e grandiosa;</a:t>
            </a:r>
            <a:r>
              <a:rPr lang="pt-BR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Invocação e dedicatória;</a:t>
            </a:r>
            <a:r>
              <a:rPr lang="pt-BR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/>
              <a:t>Uso de oitavas e versos decassílabos.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8742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006FE-DC28-CA71-4FDA-7BCB9EA8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F9AAB52-B9A3-9A05-1974-67CADE373CF3}"/>
              </a:ext>
            </a:extLst>
          </p:cNvPr>
          <p:cNvSpPr txBox="1"/>
          <p:nvPr/>
        </p:nvSpPr>
        <p:spPr>
          <a:xfrm>
            <a:off x="0" y="53172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da Obra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FFCCFE4-B723-59D0-5C87-66FDCB9FA682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10 Cantos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35F99B-1840-71C1-55EF-BBEA51057604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Versos e Estrofes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49CF14-BE40-D6EE-9A6A-E30E7F6A0809}"/>
              </a:ext>
            </a:extLst>
          </p:cNvPr>
          <p:cNvSpPr txBox="1"/>
          <p:nvPr/>
        </p:nvSpPr>
        <p:spPr>
          <a:xfrm>
            <a:off x="0" y="51897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Narrador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D35518-A42A-B9F1-2D10-D37980840EC5}"/>
              </a:ext>
            </a:extLst>
          </p:cNvPr>
          <p:cNvSpPr txBox="1"/>
          <p:nvPr/>
        </p:nvSpPr>
        <p:spPr>
          <a:xfrm>
            <a:off x="0" y="5301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Proposição, Invocação e Dedicatória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F437725-EEED-7E33-DCB3-D35C627DD53B}"/>
              </a:ext>
            </a:extLst>
          </p:cNvPr>
          <p:cNvSpPr txBox="1"/>
          <p:nvPr/>
        </p:nvSpPr>
        <p:spPr>
          <a:xfrm>
            <a:off x="0" y="5285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Características Formais da Obra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16E033D-B315-FB4E-25AC-86616A605AD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Conclusão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0803D2-974D-E094-D249-69DCA3B4250A}"/>
              </a:ext>
            </a:extLst>
          </p:cNvPr>
          <p:cNvSpPr/>
          <p:nvPr/>
        </p:nvSpPr>
        <p:spPr>
          <a:xfrm>
            <a:off x="0" y="477856"/>
            <a:ext cx="12192000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406A1C-B1C0-41D2-017B-E3EA39A37A91}"/>
              </a:ext>
            </a:extLst>
          </p:cNvPr>
          <p:cNvSpPr/>
          <p:nvPr/>
        </p:nvSpPr>
        <p:spPr>
          <a:xfrm>
            <a:off x="0" y="369332"/>
            <a:ext cx="12192000" cy="10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Espaço Reservado para Número de Slide 14">
            <a:extLst>
              <a:ext uri="{FF2B5EF4-FFF2-40B4-BE49-F238E27FC236}">
                <a16:creationId xmlns:a16="http://schemas.microsoft.com/office/drawing/2014/main" id="{D7BA3822-3193-0D56-D673-D95FC51F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956" y="6380144"/>
            <a:ext cx="257556" cy="365125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fld id="{E8353F7F-D8DD-4791-A28C-FA7EA9BA9A12}" type="slidenum">
              <a:rPr lang="pt-BR" smtClean="0">
                <a:solidFill>
                  <a:schemeClr val="bg1"/>
                </a:solidFill>
              </a:rPr>
              <a:t>11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225F83-92D4-A671-276E-7938B4A74A18}"/>
              </a:ext>
            </a:extLst>
          </p:cNvPr>
          <p:cNvSpPr txBox="1"/>
          <p:nvPr/>
        </p:nvSpPr>
        <p:spPr>
          <a:xfrm>
            <a:off x="3483102" y="2136338"/>
            <a:ext cx="52257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Em resumo...</a:t>
            </a:r>
          </a:p>
          <a:p>
            <a:pPr>
              <a:buNone/>
            </a:pPr>
            <a:r>
              <a:rPr lang="pt-BR" i="1" dirty="0"/>
              <a:t>Os Lusíadas</a:t>
            </a:r>
            <a:r>
              <a:rPr lang="pt-BR" dirty="0"/>
              <a:t> é uma epopeia que: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Narra</a:t>
            </a:r>
            <a:r>
              <a:rPr lang="pt-BR" dirty="0"/>
              <a:t> a viagem de Vasco da Gama à Índia;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Celebra</a:t>
            </a:r>
            <a:r>
              <a:rPr lang="pt-BR" dirty="0"/>
              <a:t> os feitos e a história de Portugal;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Retoma</a:t>
            </a:r>
            <a:r>
              <a:rPr lang="pt-BR" dirty="0"/>
              <a:t> características das epopeias clássicas;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Mistura</a:t>
            </a:r>
            <a:r>
              <a:rPr lang="pt-BR" dirty="0"/>
              <a:t> história, mitologia e fantasia;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Apresenta</a:t>
            </a:r>
            <a:r>
              <a:rPr lang="pt-BR" dirty="0"/>
              <a:t> uma estrutura formal rigorosa.</a:t>
            </a:r>
          </a:p>
          <a:p>
            <a:endParaRPr lang="pt-BR" dirty="0"/>
          </a:p>
          <a:p>
            <a:pPr algn="ctr">
              <a:buNone/>
            </a:pPr>
            <a:r>
              <a:rPr lang="pt-BR" b="1" dirty="0"/>
              <a:t>10 cantos • 1.102 estrofes • 8.816 versos</a:t>
            </a:r>
          </a:p>
        </p:txBody>
      </p:sp>
    </p:spTree>
    <p:extLst>
      <p:ext uri="{BB962C8B-B14F-4D97-AF65-F5344CB8AC3E}">
        <p14:creationId xmlns:p14="http://schemas.microsoft.com/office/powerpoint/2010/main" val="2982671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871</Words>
  <Application>Microsoft Office PowerPoint</Application>
  <PresentationFormat>Widescreen</PresentationFormat>
  <Paragraphs>203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Nuggew 🤓</dc:creator>
  <cp:lastModifiedBy>Nuggew 🤓</cp:lastModifiedBy>
  <cp:revision>2</cp:revision>
  <dcterms:created xsi:type="dcterms:W3CDTF">2026-09-14T20:31:31Z</dcterms:created>
  <dcterms:modified xsi:type="dcterms:W3CDTF">2026-09-14T23:50:13Z</dcterms:modified>
</cp:coreProperties>
</file>